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E"/>
          </a:solidFill>
        </a:fill>
      </a:tcStyle>
    </a:wholeTbl>
    <a:band2H>
      <a:tcTxStyle/>
      <a:tcStyle>
        <a:tcBdr/>
        <a:fill>
          <a:solidFill>
            <a:srgbClr val="E6E6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D5EA"/>
          </a:solidFill>
        </a:fill>
      </a:tcStyle>
    </a:wholeTbl>
    <a:band2H>
      <a:tcTxStyle/>
      <a:tcStyle>
        <a:tcBdr/>
        <a:fill>
          <a:solidFill>
            <a:srgbClr val="E7EB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E"/>
          </a:solidFill>
        </a:fill>
      </a:tcStyle>
    </a:wholeTbl>
    <a:band2H>
      <a:tcTxStyle/>
      <a:tcStyle>
        <a:tcBdr/>
        <a:fill>
          <a:solidFill>
            <a:srgbClr val="E6E6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E"/>
          </a:solidFill>
        </a:fill>
      </a:tcStyle>
    </a:wholeTbl>
    <a:band2H>
      <a:tcTxStyle/>
      <a:tcStyle>
        <a:tcBdr/>
        <a:fill>
          <a:solidFill>
            <a:srgbClr val="E6E6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98" y="-16933"/>
            <a:ext cx="7307800" cy="6874934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042416" y="1903671"/>
            <a:ext cx="6053328" cy="1846659"/>
          </a:xfrm>
          <a:prstGeom prst="rect">
            <a:avLst/>
          </a:prstGeom>
        </p:spPr>
        <p:txBody>
          <a:bodyPr anchor="ctr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9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41400" y="3897548"/>
            <a:ext cx="6053322" cy="12954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Logo"/>
          <p:cNvSpPr/>
          <p:nvPr/>
        </p:nvSpPr>
        <p:spPr>
          <a:xfrm>
            <a:off x="472758" y="381863"/>
            <a:ext cx="2067984" cy="62039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 -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Picture 8"/>
          <p:cNvSpPr/>
          <p:nvPr/>
        </p:nvSpPr>
        <p:spPr>
          <a:xfrm>
            <a:off x="10468530" y="6352478"/>
            <a:ext cx="1362109" cy="40863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05839" y="3429000"/>
            <a:ext cx="8849361" cy="15001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 marL="0" indent="457200">
              <a:buSzTx/>
              <a:buNone/>
              <a:defRPr>
                <a:solidFill>
                  <a:schemeClr val="accent2"/>
                </a:solidFill>
              </a:defRPr>
            </a:lvl2pPr>
            <a:lvl3pPr marL="0" indent="914400">
              <a:buSzTx/>
              <a:buNone/>
              <a:defRPr>
                <a:solidFill>
                  <a:schemeClr val="accent2"/>
                </a:solidFill>
              </a:defRPr>
            </a:lvl3pPr>
            <a:lvl4pPr marL="0" indent="1371600">
              <a:buSzTx/>
              <a:buNone/>
              <a:defRPr>
                <a:solidFill>
                  <a:schemeClr val="accent2"/>
                </a:solidFill>
              </a:defRPr>
            </a:lvl4pPr>
            <a:lvl5pPr marL="0" indent="1828800">
              <a:buSzTx/>
              <a:buNone/>
              <a:defRPr>
                <a:solidFill>
                  <a:schemeClr val="accent2"/>
                </a:solidFill>
              </a:defRPr>
            </a:lvl5pPr>
          </a:lstStyle>
          <a:p>
            <a:r>
              <a:t>Attributor name is 16pt Arial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1" name="Click to edit statement or quote in Arial 36pt bold"/>
          <p:cNvSpPr txBox="1">
            <a:spLocks noGrp="1"/>
          </p:cNvSpPr>
          <p:nvPr>
            <p:ph type="title" hasCustomPrompt="1"/>
          </p:nvPr>
        </p:nvSpPr>
        <p:spPr>
          <a:xfrm>
            <a:off x="1005839" y="1943100"/>
            <a:ext cx="8849361" cy="997197"/>
          </a:xfrm>
          <a:prstGeom prst="rect">
            <a:avLst/>
          </a:prstGeom>
        </p:spPr>
        <p:txBody>
          <a:bodyPr anchor="b"/>
          <a:lstStyle>
            <a:lvl1pPr>
              <a:defRPr sz="3600"/>
            </a:lvl1pPr>
          </a:lstStyle>
          <a:p>
            <a:r>
              <a:t>Click to edit statement or quote in Arial 36pt bold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9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524003"/>
            <a:ext cx="10807700" cy="4191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8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524003"/>
            <a:ext cx="10807700" cy="4191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8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8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>
              <a:defRPr sz="7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457198" y="557783"/>
            <a:ext cx="10808210" cy="307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Picture 5"/>
          <p:cNvSpPr/>
          <p:nvPr/>
        </p:nvSpPr>
        <p:spPr>
          <a:xfrm>
            <a:off x="10482419" y="6352478"/>
            <a:ext cx="1362109" cy="40863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1pPr>
      <a:lvl2pPr marL="579437" marR="0" indent="-230188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2pPr>
      <a:lvl3pPr marL="865187" marR="0" indent="-230187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⎻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4pPr>
      <a:lvl5pPr marL="2057400" marR="0" indent="-2286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5pPr>
      <a:lvl6pPr marL="2489200" marR="0" indent="-2032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6pPr>
      <a:lvl7pPr marL="2946400" marR="0" indent="-2032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7pPr>
      <a:lvl8pPr marL="3403600" marR="0" indent="-2032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8pPr>
      <a:lvl9pPr marL="3860800" marR="0" indent="-2032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ooter Placeholder 3"/>
          <p:cNvSpPr txBox="1"/>
          <p:nvPr/>
        </p:nvSpPr>
        <p:spPr>
          <a:xfrm>
            <a:off x="1042416" y="6501764"/>
            <a:ext cx="13220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 sz="700"/>
            </a:lvl1pPr>
          </a:lstStyle>
          <a:p>
            <a:r>
              <a:t>© 2025–2027 Cognizant | Private</a:t>
            </a:r>
          </a:p>
        </p:txBody>
      </p:sp>
      <p:sp>
        <p:nvSpPr>
          <p:cNvPr id="71" name="Text Placeholder 1"/>
          <p:cNvSpPr txBox="1">
            <a:spLocks noGrp="1"/>
          </p:cNvSpPr>
          <p:nvPr>
            <p:ph type="body" sz="quarter" idx="1"/>
          </p:nvPr>
        </p:nvSpPr>
        <p:spPr>
          <a:xfrm>
            <a:off x="1247585" y="3964109"/>
            <a:ext cx="8849361" cy="1500189"/>
          </a:xfrm>
          <a:prstGeom prst="rect">
            <a:avLst/>
          </a:prstGeom>
        </p:spPr>
        <p:txBody>
          <a:bodyPr/>
          <a:lstStyle/>
          <a:p>
            <a:pPr algn="just">
              <a:defRPr sz="1800">
                <a:solidFill>
                  <a:srgbClr val="26EFE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Idea Title : Multilingual AI-Powered Clinical Documentation &amp; Decision Support System</a:t>
            </a:r>
          </a:p>
          <a:p>
            <a:pPr algn="just">
              <a:defRPr sz="1800">
                <a:solidFill>
                  <a:srgbClr val="26EFE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Team Captain Name : Aadya Kasi Reddy</a:t>
            </a:r>
          </a:p>
          <a:p>
            <a:pPr algn="just">
              <a:defRPr sz="1800">
                <a:solidFill>
                  <a:srgbClr val="26EFE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Team Members : Adithi Vaidya, Aishani Pureddiwar, Ramavath Poojitha</a:t>
            </a:r>
          </a:p>
          <a:p>
            <a:pPr algn="just">
              <a:defRPr sz="1800">
                <a:solidFill>
                  <a:srgbClr val="26EFE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Team Name : ByteForge22</a:t>
            </a:r>
          </a:p>
        </p:txBody>
      </p:sp>
      <p:sp>
        <p:nvSpPr>
          <p:cNvPr id="72" name="Title 2"/>
          <p:cNvSpPr txBox="1">
            <a:spLocks noGrp="1"/>
          </p:cNvSpPr>
          <p:nvPr>
            <p:ph type="title"/>
          </p:nvPr>
        </p:nvSpPr>
        <p:spPr>
          <a:xfrm>
            <a:off x="1258658" y="3089568"/>
            <a:ext cx="9338362" cy="677109"/>
          </a:xfrm>
          <a:prstGeom prst="rect">
            <a:avLst/>
          </a:prstGeom>
        </p:spPr>
        <p:txBody>
          <a:bodyPr/>
          <a:lstStyle>
            <a:lvl1pPr algn="just">
              <a:defRPr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MVP Presentation - ByteForge22</a:t>
            </a:r>
          </a:p>
        </p:txBody>
      </p:sp>
      <p:sp>
        <p:nvSpPr>
          <p:cNvPr id="73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9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ooter Placeholder 3"/>
          <p:cNvSpPr txBox="1"/>
          <p:nvPr/>
        </p:nvSpPr>
        <p:spPr>
          <a:xfrm>
            <a:off x="1042416" y="6502095"/>
            <a:ext cx="725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 sz="700"/>
            </a:lvl1pPr>
          </a:lstStyle>
          <a:p>
            <a:r>
              <a:t>© 2026 Cognizant</a:t>
            </a:r>
          </a:p>
        </p:txBody>
      </p:sp>
      <p:sp>
        <p:nvSpPr>
          <p:cNvPr id="76" name="Rectangle 2"/>
          <p:cNvSpPr/>
          <p:nvPr/>
        </p:nvSpPr>
        <p:spPr>
          <a:xfrm>
            <a:off x="-1" y="-43780"/>
            <a:ext cx="12192001" cy="645537"/>
          </a:xfrm>
          <a:prstGeom prst="rect">
            <a:avLst/>
          </a:prstGeom>
          <a:solidFill>
            <a:srgbClr val="235D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78" name="Title 1"/>
          <p:cNvSpPr txBox="1"/>
          <p:nvPr/>
        </p:nvSpPr>
        <p:spPr>
          <a:xfrm>
            <a:off x="457198" y="175235"/>
            <a:ext cx="10091044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219140">
              <a:lnSpc>
                <a:spcPct val="90000"/>
              </a:lnSpc>
              <a:def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Multilingual AI-Powered Clinical Documentation &amp; Decision Support System</a:t>
            </a:r>
          </a:p>
        </p:txBody>
      </p:sp>
      <p:sp>
        <p:nvSpPr>
          <p:cNvPr id="79" name="TextBox 9"/>
          <p:cNvSpPr/>
          <p:nvPr/>
        </p:nvSpPr>
        <p:spPr>
          <a:xfrm>
            <a:off x="516815" y="1350495"/>
            <a:ext cx="5486401" cy="4482567"/>
          </a:xfrm>
          <a:prstGeom prst="rect">
            <a:avLst/>
          </a:prstGeom>
          <a:solidFill>
            <a:srgbClr val="E9F1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  <a:endParaRPr/>
          </a:p>
        </p:txBody>
      </p:sp>
      <p:sp>
        <p:nvSpPr>
          <p:cNvPr id="80" name="TextBox 11"/>
          <p:cNvSpPr/>
          <p:nvPr/>
        </p:nvSpPr>
        <p:spPr>
          <a:xfrm>
            <a:off x="6188785" y="1350495"/>
            <a:ext cx="5486401" cy="4482567"/>
          </a:xfrm>
          <a:prstGeom prst="rect">
            <a:avLst/>
          </a:prstGeom>
          <a:solidFill>
            <a:srgbClr val="E9F1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  <a:endParaRPr/>
          </a:p>
        </p:txBody>
      </p:sp>
      <p:grpSp>
        <p:nvGrpSpPr>
          <p:cNvPr id="83" name="Arrow: Pentagon 4"/>
          <p:cNvGrpSpPr/>
          <p:nvPr/>
        </p:nvGrpSpPr>
        <p:grpSpPr>
          <a:xfrm>
            <a:off x="516815" y="1044263"/>
            <a:ext cx="3924301" cy="325558"/>
            <a:chOff x="0" y="0"/>
            <a:chExt cx="3924300" cy="325556"/>
          </a:xfrm>
        </p:grpSpPr>
        <p:sp>
          <p:nvSpPr>
            <p:cNvPr id="81" name="Shape"/>
            <p:cNvSpPr/>
            <p:nvPr/>
          </p:nvSpPr>
          <p:spPr>
            <a:xfrm>
              <a:off x="0" y="0"/>
              <a:ext cx="3924301" cy="325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969" y="0"/>
                  </a:lnTo>
                  <a:lnTo>
                    <a:pt x="21600" y="10800"/>
                  </a:lnTo>
                  <a:lnTo>
                    <a:pt x="2096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4638"/>
              <a:endParaRPr/>
            </a:p>
          </p:txBody>
        </p:sp>
        <p:sp>
          <p:nvSpPr>
            <p:cNvPr id="82" name="Problem Statement"/>
            <p:cNvSpPr txBox="1"/>
            <p:nvPr/>
          </p:nvSpPr>
          <p:spPr>
            <a:xfrm>
              <a:off x="45719" y="6082"/>
              <a:ext cx="3775577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defTabSz="684638">
                <a:defRPr sz="1600" b="1">
                  <a:solidFill>
                    <a:srgbClr val="FFFFFF"/>
                  </a:solidFill>
                </a:defRPr>
              </a:lvl1pPr>
            </a:lstStyle>
            <a:p>
              <a:r>
                <a:t>Problem Statement</a:t>
              </a:r>
            </a:p>
          </p:txBody>
        </p:sp>
      </p:grpSp>
      <p:sp>
        <p:nvSpPr>
          <p:cNvPr id="84" name="Content Placeholder 9"/>
          <p:cNvSpPr txBox="1">
            <a:spLocks noGrp="1"/>
          </p:cNvSpPr>
          <p:nvPr>
            <p:ph type="body" sz="quarter" idx="1"/>
          </p:nvPr>
        </p:nvSpPr>
        <p:spPr>
          <a:xfrm>
            <a:off x="622605" y="1556432"/>
            <a:ext cx="5029201" cy="1969741"/>
          </a:xfrm>
          <a:prstGeom prst="rect">
            <a:avLst/>
          </a:prstGeom>
        </p:spPr>
        <p:txBody>
          <a:bodyPr/>
          <a:lstStyle>
            <a:lvl1pPr indent="89611" algn="just" defTabSz="896111">
              <a:lnSpc>
                <a:spcPct val="120000"/>
              </a:lnSpc>
              <a:spcBef>
                <a:spcPts val="0"/>
              </a:spcBef>
              <a:defRPr sz="1764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Healthcare professionals spend 40-60% of their time on documentation and EHR updates, reducing patient-facing time. Manual entry causes inconsistent records, delays in treatment, and increased clinician burnout. In multilingual settings, language gaps between patients and clinicians introduce misinterpretation and errors.</a:t>
            </a:r>
          </a:p>
        </p:txBody>
      </p:sp>
      <p:grpSp>
        <p:nvGrpSpPr>
          <p:cNvPr id="87" name="Arrow: Pentagon 8"/>
          <p:cNvGrpSpPr/>
          <p:nvPr/>
        </p:nvGrpSpPr>
        <p:grpSpPr>
          <a:xfrm>
            <a:off x="6188785" y="1024938"/>
            <a:ext cx="3924301" cy="325558"/>
            <a:chOff x="0" y="0"/>
            <a:chExt cx="3924300" cy="325556"/>
          </a:xfrm>
        </p:grpSpPr>
        <p:sp>
          <p:nvSpPr>
            <p:cNvPr id="85" name="Shape"/>
            <p:cNvSpPr/>
            <p:nvPr/>
          </p:nvSpPr>
          <p:spPr>
            <a:xfrm>
              <a:off x="0" y="0"/>
              <a:ext cx="3924301" cy="325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969" y="0"/>
                  </a:lnTo>
                  <a:lnTo>
                    <a:pt x="21600" y="10800"/>
                  </a:lnTo>
                  <a:lnTo>
                    <a:pt x="2096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4638"/>
              <a:endParaRPr/>
            </a:p>
          </p:txBody>
        </p:sp>
        <p:sp>
          <p:nvSpPr>
            <p:cNvPr id="86" name="Solution Description"/>
            <p:cNvSpPr txBox="1"/>
            <p:nvPr/>
          </p:nvSpPr>
          <p:spPr>
            <a:xfrm>
              <a:off x="45719" y="6082"/>
              <a:ext cx="3775577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defTabSz="684638">
                <a:defRPr sz="1600" b="1">
                  <a:solidFill>
                    <a:srgbClr val="FFFFFF"/>
                  </a:solidFill>
                </a:defRPr>
              </a:lvl1pPr>
            </a:lstStyle>
            <a:p>
              <a:r>
                <a:t>Solution Description</a:t>
              </a:r>
            </a:p>
          </p:txBody>
        </p:sp>
      </p:grpSp>
      <p:sp>
        <p:nvSpPr>
          <p:cNvPr id="88" name="Content Placeholder 9"/>
          <p:cNvSpPr txBox="1"/>
          <p:nvPr/>
        </p:nvSpPr>
        <p:spPr>
          <a:xfrm>
            <a:off x="6235830" y="1524507"/>
            <a:ext cx="5186043" cy="1847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91439" algn="just">
              <a:lnSpc>
                <a:spcPct val="120000"/>
              </a:lnSpc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A real-time multilingual AI system that captures doctor-patient consultations, converts speech to text, translates across languages, and generates structured clinical notes (SOAP format). Provides EHR-ready outputs and optional decision support such as ICD code suggestions - without disrupting clinician workflow.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ooter Placeholder 3"/>
          <p:cNvSpPr txBox="1"/>
          <p:nvPr/>
        </p:nvSpPr>
        <p:spPr>
          <a:xfrm>
            <a:off x="1042416" y="6502095"/>
            <a:ext cx="725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 sz="700"/>
            </a:lvl1pPr>
          </a:lstStyle>
          <a:p>
            <a:r>
              <a:t>© 2026 Cognizant</a:t>
            </a:r>
          </a:p>
        </p:txBody>
      </p:sp>
      <p:sp>
        <p:nvSpPr>
          <p:cNvPr id="106" name="Rectangle 2"/>
          <p:cNvSpPr/>
          <p:nvPr/>
        </p:nvSpPr>
        <p:spPr>
          <a:xfrm>
            <a:off x="-1" y="-43780"/>
            <a:ext cx="12192001" cy="645537"/>
          </a:xfrm>
          <a:prstGeom prst="rect">
            <a:avLst/>
          </a:prstGeom>
          <a:solidFill>
            <a:srgbClr val="235D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08" name="Title 1"/>
          <p:cNvSpPr txBox="1"/>
          <p:nvPr/>
        </p:nvSpPr>
        <p:spPr>
          <a:xfrm>
            <a:off x="457198" y="175235"/>
            <a:ext cx="11009314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219140">
              <a:lnSpc>
                <a:spcPct val="90000"/>
              </a:lnSpc>
              <a:defRPr sz="2400" b="1">
                <a:solidFill>
                  <a:srgbClr val="FFFFFF"/>
                </a:solidFill>
              </a:defRPr>
            </a:lvl1pPr>
          </a:lstStyle>
          <a:p>
            <a:r>
              <a:t>Multilingual AI-Powered Clinical Documentation &amp; Decision Support System</a:t>
            </a:r>
          </a:p>
        </p:txBody>
      </p:sp>
      <p:sp>
        <p:nvSpPr>
          <p:cNvPr id="109" name="TextBox 21"/>
          <p:cNvSpPr txBox="1"/>
          <p:nvPr/>
        </p:nvSpPr>
        <p:spPr>
          <a:xfrm>
            <a:off x="3910008" y="6528875"/>
            <a:ext cx="42062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/>
            </a:lvl1pPr>
          </a:lstStyle>
          <a:p>
            <a:r>
              <a:t>** Use additional slides to include other relevant details, as required. </a:t>
            </a:r>
          </a:p>
        </p:txBody>
      </p:sp>
      <p:sp>
        <p:nvSpPr>
          <p:cNvPr id="110" name="TextBox 9"/>
          <p:cNvSpPr/>
          <p:nvPr/>
        </p:nvSpPr>
        <p:spPr>
          <a:xfrm>
            <a:off x="343469" y="1400392"/>
            <a:ext cx="11200264" cy="4875181"/>
          </a:xfrm>
          <a:prstGeom prst="rect">
            <a:avLst/>
          </a:prstGeom>
          <a:solidFill>
            <a:srgbClr val="FFFFFF"/>
          </a:solidFill>
          <a:ln>
            <a:solidFill>
              <a:srgbClr val="235D99"/>
            </a:solidFill>
          </a:ln>
        </p:spPr>
        <p:txBody>
          <a:bodyPr lIns="45719" rIns="45719"/>
          <a:lstStyle/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React + Vite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JWT-based secure authentication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Pipeline: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Faster-Whisper for multilingual ASR + language detection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with Llama 3.3 70B for SOAP note generation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&amp; Storage: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MongoDB Atlas for clinical records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AWS S3 for audio and prescription storage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Generation:</a:t>
            </a:r>
          </a:p>
          <a:p>
            <a:pPr>
              <a:defRPr sz="12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prescription PDF creation</a:t>
            </a:r>
          </a:p>
          <a:p>
            <a:pPr>
              <a:defRPr sz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3" name="Arrow: Pentagon 4"/>
          <p:cNvGrpSpPr/>
          <p:nvPr/>
        </p:nvGrpSpPr>
        <p:grpSpPr>
          <a:xfrm>
            <a:off x="516814" y="1040684"/>
            <a:ext cx="5426786" cy="313394"/>
            <a:chOff x="0" y="0"/>
            <a:chExt cx="5426785" cy="313392"/>
          </a:xfrm>
        </p:grpSpPr>
        <p:sp>
          <p:nvSpPr>
            <p:cNvPr id="111" name="Shape"/>
            <p:cNvSpPr/>
            <p:nvPr/>
          </p:nvSpPr>
          <p:spPr>
            <a:xfrm>
              <a:off x="0" y="3580"/>
              <a:ext cx="5426786" cy="306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171" y="0"/>
                  </a:lnTo>
                  <a:lnTo>
                    <a:pt x="21600" y="10800"/>
                  </a:lnTo>
                  <a:lnTo>
                    <a:pt x="21171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4638"/>
              <a:endParaRPr/>
            </a:p>
          </p:txBody>
        </p:sp>
        <p:sp>
          <p:nvSpPr>
            <p:cNvPr id="112" name="Technical Design and architecture"/>
            <p:cNvSpPr txBox="1"/>
            <p:nvPr/>
          </p:nvSpPr>
          <p:spPr>
            <a:xfrm>
              <a:off x="45720" y="0"/>
              <a:ext cx="5281460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defTabSz="684638">
                <a:defRPr sz="1600" b="1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Technical Design and architecture</a:t>
              </a:r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16B4D74A-FC47-B930-E75D-601091C6EC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1342" y="681057"/>
            <a:ext cx="2718620" cy="2718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D727F-0A87-77A9-BC90-AE5E97BDA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83" t="2083" r="15004" b="1"/>
          <a:stretch>
            <a:fillRect/>
          </a:stretch>
        </p:blipFill>
        <p:spPr>
          <a:xfrm>
            <a:off x="7073898" y="1490398"/>
            <a:ext cx="3957895" cy="48536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ooter Placeholder 3"/>
          <p:cNvSpPr txBox="1"/>
          <p:nvPr/>
        </p:nvSpPr>
        <p:spPr>
          <a:xfrm>
            <a:off x="1042416" y="6502095"/>
            <a:ext cx="7503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 sz="700"/>
            </a:lvl1pPr>
          </a:lstStyle>
          <a:p>
            <a:r>
              <a:t>© 2026 Cognizant </a:t>
            </a:r>
          </a:p>
        </p:txBody>
      </p:sp>
      <p:sp>
        <p:nvSpPr>
          <p:cNvPr id="91" name="Rectangle 2"/>
          <p:cNvSpPr/>
          <p:nvPr/>
        </p:nvSpPr>
        <p:spPr>
          <a:xfrm>
            <a:off x="-1" y="-43780"/>
            <a:ext cx="12192001" cy="645537"/>
          </a:xfrm>
          <a:prstGeom prst="rect">
            <a:avLst/>
          </a:prstGeom>
          <a:solidFill>
            <a:srgbClr val="235D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93" name="Title 1"/>
          <p:cNvSpPr txBox="1"/>
          <p:nvPr/>
        </p:nvSpPr>
        <p:spPr>
          <a:xfrm>
            <a:off x="457198" y="175235"/>
            <a:ext cx="10091044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219140">
              <a:lnSpc>
                <a:spcPct val="90000"/>
              </a:lnSpc>
              <a:def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Multilingual AI-Powered Clinical Documentation &amp; Decision Support System</a:t>
            </a:r>
          </a:p>
        </p:txBody>
      </p:sp>
      <p:sp>
        <p:nvSpPr>
          <p:cNvPr id="94" name="TextBox 9"/>
          <p:cNvSpPr/>
          <p:nvPr/>
        </p:nvSpPr>
        <p:spPr>
          <a:xfrm>
            <a:off x="516815" y="1350495"/>
            <a:ext cx="5486401" cy="4482567"/>
          </a:xfrm>
          <a:prstGeom prst="rect">
            <a:avLst/>
          </a:prstGeom>
          <a:solidFill>
            <a:srgbClr val="E9F1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  <a:endParaRPr/>
          </a:p>
        </p:txBody>
      </p:sp>
      <p:sp>
        <p:nvSpPr>
          <p:cNvPr id="95" name="TextBox 11"/>
          <p:cNvSpPr/>
          <p:nvPr/>
        </p:nvSpPr>
        <p:spPr>
          <a:xfrm>
            <a:off x="6188785" y="1350495"/>
            <a:ext cx="5486401" cy="4482567"/>
          </a:xfrm>
          <a:prstGeom prst="rect">
            <a:avLst/>
          </a:prstGeom>
          <a:solidFill>
            <a:srgbClr val="E9F1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  <a:endParaRPr/>
          </a:p>
        </p:txBody>
      </p:sp>
      <p:grpSp>
        <p:nvGrpSpPr>
          <p:cNvPr id="98" name="Arrow: Pentagon 4"/>
          <p:cNvGrpSpPr/>
          <p:nvPr/>
        </p:nvGrpSpPr>
        <p:grpSpPr>
          <a:xfrm>
            <a:off x="516815" y="1024939"/>
            <a:ext cx="3924301" cy="392663"/>
            <a:chOff x="0" y="0"/>
            <a:chExt cx="3924300" cy="392662"/>
          </a:xfrm>
        </p:grpSpPr>
        <p:sp>
          <p:nvSpPr>
            <p:cNvPr id="96" name="Shape"/>
            <p:cNvSpPr/>
            <p:nvPr/>
          </p:nvSpPr>
          <p:spPr>
            <a:xfrm>
              <a:off x="0" y="-1"/>
              <a:ext cx="3924301" cy="392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839" y="0"/>
                  </a:lnTo>
                  <a:lnTo>
                    <a:pt x="21600" y="10800"/>
                  </a:lnTo>
                  <a:lnTo>
                    <a:pt x="2083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4638"/>
              <a:endParaRPr/>
            </a:p>
          </p:txBody>
        </p:sp>
        <p:sp>
          <p:nvSpPr>
            <p:cNvPr id="97" name="Uniqueness / Innovativeness"/>
            <p:cNvSpPr txBox="1"/>
            <p:nvPr/>
          </p:nvSpPr>
          <p:spPr>
            <a:xfrm>
              <a:off x="45720" y="39634"/>
              <a:ext cx="3763767" cy="313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defTabSz="684638">
                <a:defRPr sz="1600" b="1">
                  <a:solidFill>
                    <a:srgbClr val="FFFFFF"/>
                  </a:solidFill>
                </a:defRPr>
              </a:lvl1pPr>
            </a:lstStyle>
            <a:p>
              <a:r>
                <a:t>Uniqueness / Innovativeness</a:t>
              </a:r>
            </a:p>
          </p:txBody>
        </p:sp>
      </p:grpSp>
      <p:sp>
        <p:nvSpPr>
          <p:cNvPr id="99" name="Content Placeholder 9"/>
          <p:cNvSpPr txBox="1">
            <a:spLocks noGrp="1"/>
          </p:cNvSpPr>
          <p:nvPr>
            <p:ph type="body" sz="quarter" idx="1"/>
          </p:nvPr>
        </p:nvSpPr>
        <p:spPr>
          <a:xfrm>
            <a:off x="633247" y="1417600"/>
            <a:ext cx="5369968" cy="954825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832104">
              <a:lnSpc>
                <a:spcPts val="2000"/>
              </a:lnSpc>
              <a:spcBef>
                <a:spcPts val="900"/>
              </a:spcBef>
              <a:defRPr sz="1183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Combines multilingual ASR, real-time translation, and clinical NLP in a single pipeline</a:t>
            </a:r>
          </a:p>
          <a:p>
            <a:pPr marL="111236" indent="-222473" defTabSz="832104">
              <a:spcBef>
                <a:spcPts val="0"/>
              </a:spcBef>
              <a:defRPr sz="1183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Context-aware SOAP note generation; no comparable all-in-one multilingual clinical tool exists</a:t>
            </a:r>
          </a:p>
          <a:p>
            <a:pPr marL="111236" indent="-222473" defTabSz="832104">
              <a:spcBef>
                <a:spcPts val="0"/>
              </a:spcBef>
              <a:defRPr sz="1183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/>
              <a:t>-Use of NLP over LLM</a:t>
            </a:r>
            <a:endParaRPr sz="2000" dirty="0"/>
          </a:p>
        </p:txBody>
      </p:sp>
      <p:grpSp>
        <p:nvGrpSpPr>
          <p:cNvPr id="102" name="Arrow: Pentagon 8"/>
          <p:cNvGrpSpPr/>
          <p:nvPr/>
        </p:nvGrpSpPr>
        <p:grpSpPr>
          <a:xfrm>
            <a:off x="6188785" y="1024938"/>
            <a:ext cx="4522759" cy="414435"/>
            <a:chOff x="0" y="0"/>
            <a:chExt cx="4522758" cy="414434"/>
          </a:xfrm>
        </p:grpSpPr>
        <p:sp>
          <p:nvSpPr>
            <p:cNvPr id="100" name="Shape"/>
            <p:cNvSpPr/>
            <p:nvPr/>
          </p:nvSpPr>
          <p:spPr>
            <a:xfrm>
              <a:off x="-1" y="-1"/>
              <a:ext cx="4522760" cy="4144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903" y="0"/>
                  </a:lnTo>
                  <a:lnTo>
                    <a:pt x="21600" y="10800"/>
                  </a:lnTo>
                  <a:lnTo>
                    <a:pt x="20903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4638"/>
              <a:endParaRPr/>
            </a:p>
          </p:txBody>
        </p:sp>
        <p:sp>
          <p:nvSpPr>
            <p:cNvPr id="101" name="Business Impact"/>
            <p:cNvSpPr txBox="1"/>
            <p:nvPr/>
          </p:nvSpPr>
          <p:spPr>
            <a:xfrm>
              <a:off x="45719" y="50520"/>
              <a:ext cx="4358396" cy="313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defTabSz="684638">
                <a:defRPr sz="1600" b="1">
                  <a:solidFill>
                    <a:srgbClr val="FFFFFF"/>
                  </a:solidFill>
                </a:defRPr>
              </a:lvl1pPr>
            </a:lstStyle>
            <a:p>
              <a:r>
                <a:t>Business Impact</a:t>
              </a:r>
            </a:p>
          </p:txBody>
        </p:sp>
      </p:grpSp>
      <p:sp>
        <p:nvSpPr>
          <p:cNvPr id="103" name="Content Placeholder 9"/>
          <p:cNvSpPr txBox="1"/>
          <p:nvPr/>
        </p:nvSpPr>
        <p:spPr>
          <a:xfrm>
            <a:off x="6268489" y="1461145"/>
            <a:ext cx="5029201" cy="1846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~50% reduction in documentation time; improved record accuracy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Faster billing/claims cycles; reduced clinician burnout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SaaS revenue model; scalable across hospitals, clinics, telemedicine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ooter Placeholder 3"/>
          <p:cNvSpPr txBox="1"/>
          <p:nvPr/>
        </p:nvSpPr>
        <p:spPr>
          <a:xfrm>
            <a:off x="1042416" y="6502095"/>
            <a:ext cx="7503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 sz="700"/>
            </a:lvl1pPr>
          </a:lstStyle>
          <a:p>
            <a:r>
              <a:t>© 2026 Cognizant </a:t>
            </a:r>
          </a:p>
        </p:txBody>
      </p:sp>
      <p:sp>
        <p:nvSpPr>
          <p:cNvPr id="118" name="Rectangle 2"/>
          <p:cNvSpPr/>
          <p:nvPr/>
        </p:nvSpPr>
        <p:spPr>
          <a:xfrm>
            <a:off x="-1" y="-43780"/>
            <a:ext cx="12192001" cy="645537"/>
          </a:xfrm>
          <a:prstGeom prst="rect">
            <a:avLst/>
          </a:prstGeom>
          <a:solidFill>
            <a:srgbClr val="235D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9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20" name="Title 1"/>
          <p:cNvSpPr txBox="1"/>
          <p:nvPr/>
        </p:nvSpPr>
        <p:spPr>
          <a:xfrm>
            <a:off x="457198" y="175235"/>
            <a:ext cx="11009314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219140">
              <a:lnSpc>
                <a:spcPct val="90000"/>
              </a:lnSpc>
              <a:defRPr sz="2400" b="1">
                <a:solidFill>
                  <a:srgbClr val="FFFFFF"/>
                </a:solidFill>
              </a:defRPr>
            </a:lvl1pPr>
          </a:lstStyle>
          <a:p>
            <a:r>
              <a:t>Multilingual AI-Powered Clinical Documentation &amp; Decision Support System</a:t>
            </a:r>
          </a:p>
        </p:txBody>
      </p:sp>
      <p:sp>
        <p:nvSpPr>
          <p:cNvPr id="121" name="TextBox 9"/>
          <p:cNvSpPr/>
          <p:nvPr/>
        </p:nvSpPr>
        <p:spPr>
          <a:xfrm>
            <a:off x="516815" y="1350495"/>
            <a:ext cx="5486401" cy="4482567"/>
          </a:xfrm>
          <a:prstGeom prst="rect">
            <a:avLst/>
          </a:prstGeom>
          <a:solidFill>
            <a:srgbClr val="E9F1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  <a:endParaRPr/>
          </a:p>
        </p:txBody>
      </p:sp>
      <p:sp>
        <p:nvSpPr>
          <p:cNvPr id="122" name="TextBox 11"/>
          <p:cNvSpPr/>
          <p:nvPr/>
        </p:nvSpPr>
        <p:spPr>
          <a:xfrm>
            <a:off x="6188785" y="1350495"/>
            <a:ext cx="5486401" cy="4482567"/>
          </a:xfrm>
          <a:prstGeom prst="rect">
            <a:avLst/>
          </a:prstGeom>
          <a:solidFill>
            <a:srgbClr val="E9F1FA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  <a:endParaRPr/>
          </a:p>
        </p:txBody>
      </p:sp>
      <p:grpSp>
        <p:nvGrpSpPr>
          <p:cNvPr id="125" name="Arrow: Pentagon 4"/>
          <p:cNvGrpSpPr/>
          <p:nvPr/>
        </p:nvGrpSpPr>
        <p:grpSpPr>
          <a:xfrm>
            <a:off x="516815" y="1044263"/>
            <a:ext cx="4799465" cy="325558"/>
            <a:chOff x="0" y="0"/>
            <a:chExt cx="4799464" cy="325556"/>
          </a:xfrm>
        </p:grpSpPr>
        <p:sp>
          <p:nvSpPr>
            <p:cNvPr id="123" name="Shape"/>
            <p:cNvSpPr/>
            <p:nvPr/>
          </p:nvSpPr>
          <p:spPr>
            <a:xfrm>
              <a:off x="-1" y="0"/>
              <a:ext cx="4799466" cy="325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084" y="0"/>
                  </a:lnTo>
                  <a:lnTo>
                    <a:pt x="21600" y="10800"/>
                  </a:lnTo>
                  <a:lnTo>
                    <a:pt x="2108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4638"/>
              <a:endParaRPr/>
            </a:p>
          </p:txBody>
        </p:sp>
        <p:sp>
          <p:nvSpPr>
            <p:cNvPr id="124" name="Scalable / Reusable"/>
            <p:cNvSpPr txBox="1"/>
            <p:nvPr/>
          </p:nvSpPr>
          <p:spPr>
            <a:xfrm>
              <a:off x="45719" y="6082"/>
              <a:ext cx="4650741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defTabSz="684638">
                <a:defRPr sz="1600" b="1">
                  <a:solidFill>
                    <a:srgbClr val="FFFFFF"/>
                  </a:solidFill>
                </a:defRPr>
              </a:lvl1pPr>
            </a:lstStyle>
            <a:p>
              <a:r>
                <a:t>Scalable / Reusable</a:t>
              </a:r>
            </a:p>
          </p:txBody>
        </p:sp>
      </p:grpSp>
      <p:sp>
        <p:nvSpPr>
          <p:cNvPr id="126" name="Content Placeholder 9"/>
          <p:cNvSpPr txBox="1">
            <a:spLocks noGrp="1"/>
          </p:cNvSpPr>
          <p:nvPr>
            <p:ph type="body" sz="quarter" idx="1"/>
          </p:nvPr>
        </p:nvSpPr>
        <p:spPr>
          <a:xfrm>
            <a:off x="633247" y="1439373"/>
            <a:ext cx="5029201" cy="954824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91439">
              <a:spcBef>
                <a:spcPts val="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Cloud-native (AWS/Azure) with pay-as-you-scale model; low MVP cost</a:t>
            </a:r>
          </a:p>
          <a:p>
            <a:pPr indent="91439">
              <a:spcBef>
                <a:spcPts val="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Easily configurable for hospitals, clinics, telemedicine platforms globally</a:t>
            </a:r>
          </a:p>
          <a:p>
            <a:pPr indent="91439">
              <a:spcBef>
                <a:spcPts val="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SaaS licensing model; supports multi-language regions (esp. India)</a:t>
            </a:r>
            <a:endParaRPr lang="en-IN" sz="2000" dirty="0"/>
          </a:p>
          <a:p>
            <a:pPr indent="91439">
              <a:spcBef>
                <a:spcPts val="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/>
              <a:t>-Use of PHI for sensitive details healthcare redaction.</a:t>
            </a:r>
            <a:endParaRPr sz="2000" dirty="0"/>
          </a:p>
        </p:txBody>
      </p:sp>
      <p:grpSp>
        <p:nvGrpSpPr>
          <p:cNvPr id="129" name="Arrow: Pentagon 8"/>
          <p:cNvGrpSpPr/>
          <p:nvPr/>
        </p:nvGrpSpPr>
        <p:grpSpPr>
          <a:xfrm>
            <a:off x="6188785" y="1024938"/>
            <a:ext cx="4156695" cy="344883"/>
            <a:chOff x="0" y="0"/>
            <a:chExt cx="4156693" cy="344882"/>
          </a:xfrm>
        </p:grpSpPr>
        <p:sp>
          <p:nvSpPr>
            <p:cNvPr id="127" name="Shape"/>
            <p:cNvSpPr/>
            <p:nvPr/>
          </p:nvSpPr>
          <p:spPr>
            <a:xfrm>
              <a:off x="0" y="-1"/>
              <a:ext cx="4156695" cy="344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0969" y="0"/>
                  </a:lnTo>
                  <a:lnTo>
                    <a:pt x="21600" y="10800"/>
                  </a:lnTo>
                  <a:lnTo>
                    <a:pt x="2096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4638"/>
              <a:endParaRPr/>
            </a:p>
          </p:txBody>
        </p:sp>
        <p:sp>
          <p:nvSpPr>
            <p:cNvPr id="128" name="Roadmap"/>
            <p:cNvSpPr txBox="1"/>
            <p:nvPr/>
          </p:nvSpPr>
          <p:spPr>
            <a:xfrm>
              <a:off x="45720" y="15744"/>
              <a:ext cx="4004569" cy="313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defTabSz="684638">
                <a:defRPr sz="1600" b="1">
                  <a:solidFill>
                    <a:srgbClr val="FFFFFF"/>
                  </a:solidFill>
                </a:defRPr>
              </a:lvl1pPr>
            </a:lstStyle>
            <a:p>
              <a:r>
                <a:t>Roadmap</a:t>
              </a:r>
            </a:p>
          </p:txBody>
        </p:sp>
      </p:grpSp>
      <p:sp>
        <p:nvSpPr>
          <p:cNvPr id="130" name="Content Placeholder 9"/>
          <p:cNvSpPr txBox="1"/>
          <p:nvPr/>
        </p:nvSpPr>
        <p:spPr>
          <a:xfrm>
            <a:off x="6235830" y="1439373"/>
            <a:ext cx="5029201" cy="246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91439"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Week 1: Research, data flow design, UI wireframes</a:t>
            </a:r>
          </a:p>
          <a:p>
            <a:pPr indent="91439"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Week 2: ASR + NLP integration and basic pipeline</a:t>
            </a:r>
          </a:p>
          <a:p>
            <a:pPr indent="91439"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Week 3: Backend-frontend integration and EHR-ready formatting</a:t>
            </a:r>
          </a:p>
          <a:p>
            <a:pPr indent="91439"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- Week 4: Testing, optimization, demo preparation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ooter Placeholder 2"/>
          <p:cNvSpPr txBox="1"/>
          <p:nvPr/>
        </p:nvSpPr>
        <p:spPr>
          <a:xfrm>
            <a:off x="1042415" y="6501764"/>
            <a:ext cx="725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 sz="700"/>
            </a:lvl1pPr>
          </a:lstStyle>
          <a:p>
            <a:r>
              <a:t>© 2026 Cognizant</a:t>
            </a:r>
          </a:p>
        </p:txBody>
      </p:sp>
      <p:sp>
        <p:nvSpPr>
          <p:cNvPr id="133" name="Title 1"/>
          <p:cNvSpPr txBox="1">
            <a:spLocks noGrp="1"/>
          </p:cNvSpPr>
          <p:nvPr>
            <p:ph type="title"/>
          </p:nvPr>
        </p:nvSpPr>
        <p:spPr>
          <a:xfrm>
            <a:off x="1042416" y="2365335"/>
            <a:ext cx="6053328" cy="923331"/>
          </a:xfrm>
          <a:prstGeom prst="rect">
            <a:avLst/>
          </a:prstGeo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13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457198" y="6502399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48"/>
      </a:dk1>
      <a:lt1>
        <a:srgbClr val="FFFFFF"/>
      </a:lt1>
      <a:dk2>
        <a:srgbClr val="A7A7A7"/>
      </a:dk2>
      <a:lt2>
        <a:srgbClr val="535353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28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28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451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1_Office Theme</vt:lpstr>
      <vt:lpstr>MVP Presentation - ByteForge22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Aadya Kasi Reddy</cp:lastModifiedBy>
  <cp:revision>3</cp:revision>
  <dcterms:modified xsi:type="dcterms:W3CDTF">2026-05-07T01:37:31Z</dcterms:modified>
</cp:coreProperties>
</file>